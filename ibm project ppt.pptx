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1" r:id="rId16"/>
    <p:sldId id="310" r:id="rId17"/>
    <p:sldId id="312" r:id="rId18"/>
    <p:sldId id="304" r:id="rId19"/>
    <p:sldId id="305" r:id="rId20"/>
    <p:sldId id="306" r:id="rId21"/>
    <p:sldId id="307" r:id="rId22"/>
    <p:sldId id="308" r:id="rId23"/>
    <p:sldId id="30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4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vi24-ux/StartupGenie.g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76910179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JANVI AGARWAL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janviagarwal335@gmail.com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7317847739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 Startup &amp; Entrepreneurship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AI- Powered Startup Blueprint Generator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A6DC5C-6101-D209-3E76-46C2CEEFDF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77" t="4231" r="6489" b="4295"/>
          <a:stretch>
            <a:fillRect/>
          </a:stretch>
        </p:blipFill>
        <p:spPr>
          <a:xfrm>
            <a:off x="4247537" y="3655528"/>
            <a:ext cx="737418" cy="96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77520" y="574040"/>
            <a:ext cx="1113840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Startup Blueprint Generator Agent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Challenge:</a:t>
            </a:r>
          </a:p>
          <a:p>
            <a:r>
              <a:rPr lang="en-US" dirty="0"/>
              <a:t>Turning </a:t>
            </a:r>
            <a:r>
              <a:rPr lang="en-US" b="1" dirty="0"/>
              <a:t>a raw startup idea </a:t>
            </a:r>
            <a:r>
              <a:rPr lang="en-US" dirty="0"/>
              <a:t>into a </a:t>
            </a:r>
            <a:r>
              <a:rPr lang="en-US" b="1" dirty="0"/>
              <a:t>practical business plan</a:t>
            </a:r>
            <a:r>
              <a:rPr lang="en-US" dirty="0"/>
              <a:t> requires extensive research, including: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Market and competitor analysis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Business model development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Revenue planning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Funding and government schemes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Legal and compliance requirements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Go-to-market planning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Startup budgeting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Action planning</a:t>
            </a:r>
            <a:r>
              <a:rPr lang="en-US" dirty="0"/>
              <a:t> </a:t>
            </a:r>
          </a:p>
          <a:p>
            <a:r>
              <a:rPr lang="en-US" dirty="0"/>
              <a:t>For beginners, this process is </a:t>
            </a:r>
            <a:r>
              <a:rPr lang="en-US" b="1" dirty="0"/>
              <a:t>time-consuming, complex, and difficult to organize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endParaRPr lang="en-US" dirty="0"/>
          </a:p>
          <a:p>
            <a:r>
              <a:rPr lang="en-US" dirty="0"/>
              <a:t>Build an </a:t>
            </a:r>
            <a:r>
              <a:rPr lang="en-US" b="1" dirty="0"/>
              <a:t>AI-powered Startup Blueprint Generator Agent</a:t>
            </a:r>
            <a:r>
              <a:rPr lang="en-US" dirty="0"/>
              <a:t> that transforms a simple startup idea into a </a:t>
            </a:r>
            <a:r>
              <a:rPr lang="en-US" b="1" dirty="0"/>
              <a:t>structured, research-backed, and actionable business blueprint</a:t>
            </a:r>
            <a:r>
              <a:rPr lang="en-US" dirty="0"/>
              <a:t>. The solution should: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Startup Idea Analysis</a:t>
            </a:r>
            <a:r>
              <a:rPr lang="en-US" dirty="0"/>
              <a:t> – Analyze the user's idea, industry, target customers, location, budget, and startup stage.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RAG-Based Information Retrieval</a:t>
            </a:r>
            <a:r>
              <a:rPr lang="en-US" dirty="0"/>
              <a:t> – Retrieve relevant information on business models, startup funding, government schemes, incubators, and legal requirements from the knowledge base.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Business Planning</a:t>
            </a:r>
            <a:r>
              <a:rPr lang="en-US" dirty="0"/>
              <a:t> – Generate a Business Model Canvas, value proposition, revenue model, and market strategy.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Market &amp; Competitor Analysis</a:t>
            </a:r>
            <a:r>
              <a:rPr lang="en-US" dirty="0"/>
              <a:t> – Provide market insights and identify relevant competitor categories.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Funding &amp; Government Support</a:t>
            </a:r>
            <a:r>
              <a:rPr lang="en-US" dirty="0"/>
              <a:t> – Identify potential funding opportunities, government schemes, incubators, accelerators, and investor categories.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Budget &amp; Action Planning</a:t>
            </a:r>
            <a:r>
              <a:rPr lang="en-US" dirty="0"/>
              <a:t> – Provide estimated startup costs and a practical </a:t>
            </a:r>
            <a:r>
              <a:rPr lang="en-US" b="1" dirty="0"/>
              <a:t>30/60/90-day action plan</a:t>
            </a:r>
            <a:r>
              <a:rPr lang="en-US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Startup Readiness Assessment</a:t>
            </a:r>
            <a:r>
              <a:rPr lang="en-US" dirty="0"/>
              <a:t> – Generate a Startup Readiness Score to help entrepreneurs evaluate their current level of preparedness.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12213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324092" y="528387"/>
            <a:ext cx="11470512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Proposed Solution: AI-Powered Startup Blueprint Generator</a:t>
            </a:r>
          </a:p>
          <a:p>
            <a:r>
              <a:rPr lang="en-US" dirty="0"/>
              <a:t>The proposed solution is an </a:t>
            </a:r>
            <a:r>
              <a:rPr lang="en-US" b="1" dirty="0"/>
              <a:t>AI-powered Startup Blueprint Generator Agent</a:t>
            </a:r>
            <a:r>
              <a:rPr lang="en-US" dirty="0"/>
              <a:t> built using </a:t>
            </a:r>
            <a:r>
              <a:rPr lang="en-US" b="1" dirty="0"/>
              <a:t>IBM Bob, IBM Granite, IBM watsonx.ai, and Retrieval-Augmented Generation (RAG)</a:t>
            </a:r>
            <a:r>
              <a:rPr lang="en-US" dirty="0"/>
              <a:t> to transform raw startup ideas into comprehensive and actionable business blueprints.</a:t>
            </a:r>
          </a:p>
          <a:p>
            <a:r>
              <a:rPr lang="en-US" dirty="0"/>
              <a:t>At its core, </a:t>
            </a:r>
            <a:r>
              <a:rPr lang="en-US" i="1" dirty="0" err="1"/>
              <a:t>StartupGenie</a:t>
            </a:r>
            <a:r>
              <a:rPr lang="en-US" dirty="0"/>
              <a:t> uses a </a:t>
            </a:r>
            <a:r>
              <a:rPr lang="en-US" b="1" dirty="0"/>
              <a:t>RAG pipeline</a:t>
            </a:r>
            <a:r>
              <a:rPr lang="en-US" dirty="0"/>
              <a:t> to retrieve relevant startup knowledge before generating the response. The system retrieves information from a structured knowledge base covering </a:t>
            </a:r>
            <a:r>
              <a:rPr lang="en-US" b="1" dirty="0"/>
              <a:t>business models, startup funding, government schemes, incubators, and legal &amp; compliance requirements</a:t>
            </a:r>
            <a:r>
              <a:rPr lang="en-US" dirty="0"/>
              <a:t>.</a:t>
            </a:r>
          </a:p>
          <a:p>
            <a:pPr algn="ctr"/>
            <a:r>
              <a:rPr lang="en-US" b="1" u="sng" dirty="0"/>
              <a:t>How the Solution Works:</a:t>
            </a:r>
          </a:p>
          <a:p>
            <a:r>
              <a:rPr lang="en-US" b="1" dirty="0"/>
              <a:t>                                     User Input → RAG Retrieval → Relevant Context → IBM Granite → Startup Blueprint</a:t>
            </a:r>
            <a:endParaRPr lang="en-US" dirty="0"/>
          </a:p>
          <a:p>
            <a:r>
              <a:rPr lang="en-US" dirty="0"/>
              <a:t>The user provides: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Startup idea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Industry / sector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Target customer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Location / country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Available budget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Startup stage </a:t>
            </a:r>
          </a:p>
          <a:p>
            <a:r>
              <a:rPr lang="en-US" dirty="0"/>
              <a:t>The </a:t>
            </a:r>
            <a:r>
              <a:rPr lang="en-US" b="1" dirty="0"/>
              <a:t>RAG system</a:t>
            </a:r>
            <a:r>
              <a:rPr lang="en-US" dirty="0"/>
              <a:t> converts the knowledge-base content into embeddings and retrieves the most relevant information based on the user's startup idea.</a:t>
            </a:r>
          </a:p>
          <a:p>
            <a:r>
              <a:rPr lang="en-US" dirty="0"/>
              <a:t>The retrieved context is then passed to </a:t>
            </a:r>
            <a:r>
              <a:rPr lang="en-US" b="1" dirty="0"/>
              <a:t>IBM Granite</a:t>
            </a:r>
            <a:r>
              <a:rPr lang="en-US" dirty="0"/>
              <a:t>, which analyzes the user's requirements and generates a structured startup blueprint.</a:t>
            </a:r>
          </a:p>
          <a:p>
            <a:r>
              <a:rPr lang="en-US" b="1" dirty="0"/>
              <a:t>The Generated Blueprint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Startup Idea Analysis</a:t>
            </a:r>
            <a:r>
              <a:rPr lang="en-US" dirty="0"/>
              <a:t> – Understands and refines the proposed startup concept.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Model Canvas</a:t>
            </a:r>
            <a:r>
              <a:rPr lang="en-US" dirty="0"/>
              <a:t> – Defines customers, value proposition, channels, revenue streams, key activities, and other business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Market &amp; Competitor Analysis</a:t>
            </a:r>
            <a:r>
              <a:rPr lang="en-US" dirty="0"/>
              <a:t> – Provides relevant market insights and competitor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Revenue &amp; Budget Planning</a:t>
            </a:r>
            <a:r>
              <a:rPr lang="en-US" dirty="0"/>
              <a:t> – Suggests revenue models and provides clearly labelled </a:t>
            </a:r>
            <a:r>
              <a:rPr lang="en-US" b="1" dirty="0"/>
              <a:t>estimated startup costs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Funding &amp; Government Schemes</a:t>
            </a:r>
            <a:r>
              <a:rPr lang="en-US" dirty="0"/>
              <a:t> – Identifies relevant funding opportunities and government support based on the retrieved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Legal &amp; Compliance</a:t>
            </a:r>
            <a:r>
              <a:rPr lang="en-US" dirty="0"/>
              <a:t> – Provides a basic checklist of relevant legal and compliance considerations.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Go-to-Market Strategy</a:t>
            </a:r>
            <a:r>
              <a:rPr lang="en-US" dirty="0"/>
              <a:t> – Suggests practical customer acquisition and launch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30/60/90-Day Action Plan</a:t>
            </a:r>
            <a:r>
              <a:rPr lang="en-US" dirty="0"/>
              <a:t> – Converts the business idea into actionable short-term milestones.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Startup Readiness Score</a:t>
            </a:r>
            <a:r>
              <a:rPr lang="en-US" dirty="0"/>
              <a:t> – Provides an overall assessment of startup preparedness.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414026" y="7120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696217" y="0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Used-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277793" y="471733"/>
            <a:ext cx="1140106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</a:t>
            </a:r>
            <a:r>
              <a:rPr lang="en-US" sz="1800" dirty="0"/>
              <a:t> – For </a:t>
            </a:r>
            <a:r>
              <a:rPr lang="en-US" sz="1800" b="1" dirty="0"/>
              <a:t>designing, developing</a:t>
            </a:r>
            <a:r>
              <a:rPr lang="en-US" sz="1800" dirty="0"/>
              <a:t>, and </a:t>
            </a:r>
            <a:r>
              <a:rPr lang="en-US" sz="1800" b="1" dirty="0"/>
              <a:t>orchestrating</a:t>
            </a:r>
            <a:r>
              <a:rPr lang="en-US" sz="1800" dirty="0"/>
              <a:t> the </a:t>
            </a:r>
            <a:r>
              <a:rPr lang="en-US" sz="1800" dirty="0" err="1"/>
              <a:t>StartupGenie</a:t>
            </a:r>
            <a:r>
              <a:rPr lang="en-US" sz="1800" dirty="0"/>
              <a:t> application and its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</a:t>
            </a:r>
            <a:r>
              <a:rPr lang="en-US" sz="1800" dirty="0"/>
              <a:t> – For </a:t>
            </a:r>
            <a:r>
              <a:rPr lang="en-US" sz="1800" b="1" dirty="0"/>
              <a:t>natural language understanding, reasoning, and generating </a:t>
            </a:r>
            <a:r>
              <a:rPr lang="en-US" sz="1800" dirty="0"/>
              <a:t>personalized startup blueprints from user requirements and retrieved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</a:t>
            </a:r>
            <a:r>
              <a:rPr lang="en-US" sz="1800" dirty="0"/>
              <a:t> – Provides the </a:t>
            </a:r>
            <a:r>
              <a:rPr lang="en-US" sz="1800" b="1" dirty="0"/>
              <a:t>cloud infrastructure </a:t>
            </a:r>
            <a:r>
              <a:rPr lang="en-US" sz="1800" dirty="0"/>
              <a:t>and services required to </a:t>
            </a:r>
            <a:r>
              <a:rPr lang="en-US" sz="1800" b="1" dirty="0"/>
              <a:t>build, deploy, and scale </a:t>
            </a:r>
            <a:r>
              <a:rPr lang="en-US" sz="1800" dirty="0"/>
              <a:t>the Startup Blueprint Generator in a </a:t>
            </a:r>
            <a:r>
              <a:rPr lang="en-US" sz="1800" b="1" dirty="0"/>
              <a:t>reliable</a:t>
            </a:r>
            <a:r>
              <a:rPr lang="en-US" sz="1800" dirty="0"/>
              <a:t> and secure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 (Retrieval-Augmented Generation)</a:t>
            </a:r>
            <a:r>
              <a:rPr lang="en-US" sz="1800" dirty="0"/>
              <a:t> – Retrieves relevant startup information from the knowledge base first and then provides it to the Granite model, making generated recommendations more </a:t>
            </a:r>
            <a:r>
              <a:rPr lang="en-US" sz="1800" b="1" dirty="0"/>
              <a:t>context-aware and grounded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</a:t>
            </a:r>
            <a:r>
              <a:rPr lang="en-US" sz="1800" dirty="0"/>
              <a:t> – For accessing and integrating the IBM Granite foundation model and supporting the AI generation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Vector Embeddings &amp; NumPy Vector Store</a:t>
            </a:r>
            <a:r>
              <a:rPr lang="en-US" sz="1800" dirty="0"/>
              <a:t> – Used to convert knowledge-base content into embeddings and perform similarity-based retrieval for the </a:t>
            </a:r>
            <a:r>
              <a:rPr lang="en-US" sz="1800" b="1" dirty="0"/>
              <a:t>RAG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Python &amp; </a:t>
            </a:r>
            <a:r>
              <a:rPr lang="en-US" sz="1800" b="1" dirty="0" err="1"/>
              <a:t>FastAPI</a:t>
            </a:r>
            <a:r>
              <a:rPr lang="en-US" sz="1800" dirty="0"/>
              <a:t> – Python is used for backend development, while </a:t>
            </a:r>
            <a:r>
              <a:rPr lang="en-US" sz="1800" b="1" dirty="0" err="1"/>
              <a:t>FastAPI</a:t>
            </a:r>
            <a:r>
              <a:rPr lang="en-US" sz="1800" dirty="0"/>
              <a:t> provides the API layer connecting the frontend with the RAG and </a:t>
            </a:r>
            <a:r>
              <a:rPr lang="en-US" sz="1800" b="1" dirty="0"/>
              <a:t>Granite components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HTML, CSS &amp; JavaScript</a:t>
            </a:r>
            <a:r>
              <a:rPr lang="en-US" sz="1800" dirty="0"/>
              <a:t> – Used to create the interactive </a:t>
            </a:r>
            <a:r>
              <a:rPr lang="en-US" sz="1800" dirty="0" err="1"/>
              <a:t>StartupGenie</a:t>
            </a:r>
            <a:r>
              <a:rPr lang="en-US" sz="1800" dirty="0"/>
              <a:t> </a:t>
            </a:r>
            <a:r>
              <a:rPr lang="en-US" sz="1800" b="1" dirty="0"/>
              <a:t>web interface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2F933A-3CB5-6448-7D6B-B73385FAF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096" y="1605849"/>
            <a:ext cx="8894703" cy="4928912"/>
          </a:xfrm>
          <a:prstGeom prst="rect">
            <a:avLst/>
          </a:prstGeom>
        </p:spPr>
      </p:pic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274503" y="771747"/>
            <a:ext cx="31929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backend/main.py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backend/routers/blueprint.py.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backend/rag/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backend/llm/granite.py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frontend/index.html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frontend/</a:t>
            </a:r>
            <a:r>
              <a:rPr lang="en-US" b="1" dirty="0" err="1"/>
              <a:t>js</a:t>
            </a:r>
            <a:r>
              <a:rPr lang="en-US" b="1" dirty="0"/>
              <a:t>/app.js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frontend/</a:t>
            </a:r>
            <a:r>
              <a:rPr lang="en-US" b="1" dirty="0" err="1"/>
              <a:t>css</a:t>
            </a:r>
            <a:r>
              <a:rPr lang="en-US" b="1" dirty="0"/>
              <a:t>/style.css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backend/</a:t>
            </a:r>
            <a:r>
              <a:rPr lang="en-US" b="1" dirty="0" err="1"/>
              <a:t>knowledge_base</a:t>
            </a:r>
            <a:r>
              <a:rPr lang="en-US" b="1" dirty="0"/>
              <a:t>/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requirements.txt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.env / .</a:t>
            </a:r>
            <a:r>
              <a:rPr lang="en-US" b="1" dirty="0" err="1"/>
              <a:t>env.example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3307080" y="1798009"/>
            <a:ext cx="6385560" cy="264471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974040" y="1098081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4A8E7D-E687-D904-E579-5BD57A262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84" y="3479681"/>
            <a:ext cx="1904239" cy="259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7E62F-C50B-D1A9-3209-39C00B2E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57290"/>
            <a:ext cx="11460480" cy="56973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30694E-4416-6744-D0EC-675E2D01293A}"/>
              </a:ext>
            </a:extLst>
          </p:cNvPr>
          <p:cNvSpPr/>
          <p:nvPr/>
        </p:nvSpPr>
        <p:spPr>
          <a:xfrm>
            <a:off x="365760" y="957290"/>
            <a:ext cx="270848" cy="269626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98D0C-B3B3-000A-9E3A-FF973F6170BB}"/>
              </a:ext>
            </a:extLst>
          </p:cNvPr>
          <p:cNvSpPr/>
          <p:nvPr/>
        </p:nvSpPr>
        <p:spPr>
          <a:xfrm>
            <a:off x="8558784" y="1226916"/>
            <a:ext cx="1383869" cy="269626"/>
          </a:xfrm>
          <a:prstGeom prst="rect">
            <a:avLst/>
          </a:prstGeom>
          <a:solidFill>
            <a:srgbClr val="E71224">
              <a:alpha val="5000"/>
            </a:srgbClr>
          </a:solidFill>
          <a:ln w="381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43856-3584-6D2F-5F3F-E50422F1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2" y="188204"/>
            <a:ext cx="10965200" cy="6490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EA84DB-1D56-E945-8834-31BDE9A3DB87}"/>
              </a:ext>
            </a:extLst>
          </p:cNvPr>
          <p:cNvSpPr/>
          <p:nvPr/>
        </p:nvSpPr>
        <p:spPr>
          <a:xfrm>
            <a:off x="1582452" y="1844308"/>
            <a:ext cx="4818348" cy="308583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E0A819-06CB-04D9-1404-CEFCCF49BA45}"/>
              </a:ext>
            </a:extLst>
          </p:cNvPr>
          <p:cNvSpPr/>
          <p:nvPr/>
        </p:nvSpPr>
        <p:spPr>
          <a:xfrm>
            <a:off x="1388962" y="821803"/>
            <a:ext cx="5683170" cy="868101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302063" y="85687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63287-9451-081C-46F9-4E6D95226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85" y="534195"/>
            <a:ext cx="10115023" cy="622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728472" y="42833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316992" y="581394"/>
            <a:ext cx="7912608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Role of Agentic AI in Startup Blueprint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Agentic AI</a:t>
            </a:r>
            <a:r>
              <a:rPr lang="en-US" dirty="0"/>
              <a:t> enables </a:t>
            </a:r>
            <a:r>
              <a:rPr lang="en-US" b="1" dirty="0"/>
              <a:t>Startup Blueprint Generator</a:t>
            </a:r>
            <a:r>
              <a:rPr lang="en-US" dirty="0"/>
              <a:t> to function as an intelligent, goal-oriented startup planning assistant rather than a simple question-answering chatbot.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takes the user's startup requirements and </a:t>
            </a:r>
            <a:r>
              <a:rPr lang="en-US" b="1" dirty="0"/>
              <a:t>coordinates multiple steps</a:t>
            </a:r>
            <a:r>
              <a:rPr lang="en-US" dirty="0"/>
              <a:t> including information retrieval, contextual analysis, business planning, and blueprint generation.</a:t>
            </a:r>
          </a:p>
          <a:p>
            <a:r>
              <a:rPr lang="en-US" sz="1600" b="1" dirty="0"/>
              <a:t>Goal-Oriented Planning</a:t>
            </a:r>
          </a:p>
          <a:p>
            <a:r>
              <a:rPr lang="en-US" dirty="0"/>
              <a:t>The agent understands the user's startup objective and generates a complete roadmap covering business model, market research, funding, budgeting, legal requirements, and execution planning.</a:t>
            </a:r>
          </a:p>
          <a:p>
            <a:r>
              <a:rPr lang="en-US" sz="1600" b="1" dirty="0"/>
              <a:t>RAG-Based Decision Support</a:t>
            </a:r>
          </a:p>
          <a:p>
            <a:r>
              <a:rPr lang="en-US" dirty="0"/>
              <a:t>The system retrieves relevant startup information from its knowledge base before generating recommendations, allowing IBM Granite to produce </a:t>
            </a:r>
            <a:r>
              <a:rPr lang="en-US" b="1" dirty="0"/>
              <a:t>context-aware and grounded responses</a:t>
            </a:r>
            <a:r>
              <a:rPr lang="en-US" dirty="0"/>
              <a:t>.</a:t>
            </a:r>
          </a:p>
          <a:p>
            <a:r>
              <a:rPr lang="en-US" sz="1600" b="1" dirty="0"/>
              <a:t>Context Awareness</a:t>
            </a:r>
          </a:p>
          <a:p>
            <a:r>
              <a:rPr lang="en-US" dirty="0"/>
              <a:t>The agent considers the user's: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Startup idea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Industry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Target customer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Available budget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Startup stage </a:t>
            </a:r>
          </a:p>
          <a:p>
            <a:r>
              <a:rPr lang="en-US" dirty="0"/>
              <a:t>to generate a more relevant blueprint.</a:t>
            </a:r>
          </a:p>
          <a:p>
            <a:r>
              <a:rPr lang="en-US" sz="1600" b="1" dirty="0"/>
              <a:t>Autonomous Task Coordination</a:t>
            </a:r>
          </a:p>
          <a:p>
            <a:r>
              <a:rPr lang="en-US" dirty="0" err="1"/>
              <a:t>StartupGenie</a:t>
            </a:r>
            <a:r>
              <a:rPr lang="en-US" dirty="0"/>
              <a:t> coordinates multiple tasks within one workflow:</a:t>
            </a:r>
          </a:p>
          <a:p>
            <a:r>
              <a:rPr lang="en-US" b="1" dirty="0"/>
              <a:t>Retrieve → Analyze → Generate → Structure → Recommend</a:t>
            </a:r>
          </a:p>
          <a:p>
            <a:r>
              <a:rPr lang="en-US" i="1" dirty="0"/>
              <a:t>    This reduces the need for the user to manually research each aspect of starting a business.</a:t>
            </a:r>
          </a:p>
          <a:p>
            <a:r>
              <a:rPr lang="en-US" sz="1600" b="1" dirty="0"/>
              <a:t>Action-Oriented Output.</a:t>
            </a:r>
          </a:p>
          <a:p>
            <a:r>
              <a:rPr lang="en-US" dirty="0"/>
              <a:t>Instead of providing only conversational answers, the agent generates an actionable </a:t>
            </a:r>
            <a:r>
              <a:rPr lang="en-US" b="1" dirty="0"/>
              <a:t>18-section startup blueprint</a:t>
            </a:r>
            <a:r>
              <a:rPr lang="en-US" dirty="0"/>
              <a:t>, including a Business Model Canvas, budget estimate, funding opportunities, GTM strategy, and 30/60/90-day action plan.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15.256 token are used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098" y="2573213"/>
            <a:ext cx="509587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C6A40C-DBD6-9AA3-89E0-9676663FC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68" y="2462536"/>
            <a:ext cx="3577345" cy="350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05EF2-DCE6-1271-D252-A1AD8C646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98" y="723683"/>
            <a:ext cx="11278784" cy="57482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1816DC-79A0-A2EB-0D49-B1905AD119BB}"/>
              </a:ext>
            </a:extLst>
          </p:cNvPr>
          <p:cNvSpPr/>
          <p:nvPr/>
        </p:nvSpPr>
        <p:spPr>
          <a:xfrm>
            <a:off x="2052320" y="5389211"/>
            <a:ext cx="2062480" cy="383024"/>
          </a:xfrm>
          <a:prstGeom prst="rect">
            <a:avLst/>
          </a:prstGeom>
          <a:solidFill>
            <a:srgbClr val="E71224">
              <a:alpha val="5000"/>
            </a:srgbClr>
          </a:solidFill>
          <a:ln w="285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4422809" y="1705572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B8C5D-24D0-473F-8E6C-E69E20CA0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39" y="724725"/>
            <a:ext cx="3911241" cy="2871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CC3EB5-30C5-438E-97E5-7339D7C2B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031" y="504682"/>
            <a:ext cx="3479091" cy="3091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95EF8C-FD12-59EE-798E-530B484A4C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444" r="2629"/>
          <a:stretch>
            <a:fillRect/>
          </a:stretch>
        </p:blipFill>
        <p:spPr>
          <a:xfrm>
            <a:off x="300639" y="3687357"/>
            <a:ext cx="3802736" cy="30119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BD47A9-090B-B8A8-F326-60E7EE9138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072" t="5300" r="2488" b="1330"/>
          <a:stretch>
            <a:fillRect/>
          </a:stretch>
        </p:blipFill>
        <p:spPr>
          <a:xfrm>
            <a:off x="8191051" y="268453"/>
            <a:ext cx="3695383" cy="332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D3B0B7-55A4-AB45-64C6-A7B7212F4D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1064" y="3743240"/>
            <a:ext cx="3896716" cy="302756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4B5F6F5-5962-EDC2-7CA2-02A1EDA37CEE}"/>
              </a:ext>
            </a:extLst>
          </p:cNvPr>
          <p:cNvSpPr/>
          <p:nvPr/>
        </p:nvSpPr>
        <p:spPr>
          <a:xfrm>
            <a:off x="4422809" y="4876799"/>
            <a:ext cx="1246471" cy="138059"/>
          </a:xfrm>
          <a:prstGeom prst="rect">
            <a:avLst/>
          </a:prstGeom>
          <a:solidFill>
            <a:srgbClr val="E71224">
              <a:alpha val="5000"/>
            </a:srgbClr>
          </a:solidFill>
          <a:ln w="285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5E2F9B-20ED-F02C-3D44-A5E4DD6B90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269" y="3830513"/>
            <a:ext cx="3451165" cy="28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59359-5B22-A6D3-D96F-51930CE79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39" y="816977"/>
            <a:ext cx="8438798" cy="57870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B51AC4-9313-8916-D1F8-30C97FBC4FCE}"/>
              </a:ext>
            </a:extLst>
          </p:cNvPr>
          <p:cNvSpPr/>
          <p:nvPr/>
        </p:nvSpPr>
        <p:spPr>
          <a:xfrm flipV="1">
            <a:off x="802640" y="5219169"/>
            <a:ext cx="2570480" cy="403056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9B1940-C592-AF4B-B7DB-F69A530BDC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58"/>
          <a:stretch>
            <a:fillRect/>
          </a:stretch>
        </p:blipFill>
        <p:spPr>
          <a:xfrm>
            <a:off x="8770431" y="348773"/>
            <a:ext cx="3264530" cy="23490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1230A4-3A0F-96B0-042E-C5C105D6D2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41" r="3830"/>
          <a:stretch>
            <a:fillRect/>
          </a:stretch>
        </p:blipFill>
        <p:spPr>
          <a:xfrm>
            <a:off x="8801069" y="3053885"/>
            <a:ext cx="3233892" cy="33570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812CED9-E6AC-800A-CD48-37F81A4B78F9}"/>
              </a:ext>
            </a:extLst>
          </p:cNvPr>
          <p:cNvSpPr/>
          <p:nvPr/>
        </p:nvSpPr>
        <p:spPr>
          <a:xfrm>
            <a:off x="8687276" y="3212798"/>
            <a:ext cx="786923" cy="282242"/>
          </a:xfrm>
          <a:prstGeom prst="rect">
            <a:avLst/>
          </a:prstGeom>
          <a:solidFill>
            <a:srgbClr val="E71224">
              <a:alpha val="5000"/>
            </a:srgbClr>
          </a:solidFill>
          <a:ln w="285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0DE71-A4ED-5782-6D4F-A66C6FC94E4D}"/>
              </a:ext>
            </a:extLst>
          </p:cNvPr>
          <p:cNvSpPr/>
          <p:nvPr/>
        </p:nvSpPr>
        <p:spPr>
          <a:xfrm>
            <a:off x="8892508" y="4726574"/>
            <a:ext cx="3055651" cy="434938"/>
          </a:xfrm>
          <a:prstGeom prst="rect">
            <a:avLst/>
          </a:prstGeom>
          <a:solidFill>
            <a:srgbClr val="E71224">
              <a:alpha val="5000"/>
            </a:srgbClr>
          </a:solidFill>
          <a:ln w="285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078FF4-78C3-D0B2-666A-BBC199D356A1}"/>
              </a:ext>
            </a:extLst>
          </p:cNvPr>
          <p:cNvSpPr/>
          <p:nvPr/>
        </p:nvSpPr>
        <p:spPr>
          <a:xfrm>
            <a:off x="3789204" y="3429000"/>
            <a:ext cx="4613116" cy="2001713"/>
          </a:xfrm>
          <a:prstGeom prst="rect">
            <a:avLst/>
          </a:prstGeom>
          <a:solidFill>
            <a:srgbClr val="E71224">
              <a:alpha val="5000"/>
            </a:srgbClr>
          </a:solidFill>
          <a:ln w="285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3888C-106B-5FA6-8BCD-AE1B9AC8F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816976"/>
            <a:ext cx="7365999" cy="5248544"/>
          </a:xfrm>
          <a:prstGeom prst="rect">
            <a:avLst/>
          </a:prstGeom>
        </p:spPr>
      </p:pic>
      <p:sp>
        <p:nvSpPr>
          <p:cNvPr id="5" name="Google Shape;278;p18">
            <a:extLst>
              <a:ext uri="{FF2B5EF4-FFF2-40B4-BE49-F238E27FC236}">
                <a16:creationId xmlns:a16="http://schemas.microsoft.com/office/drawing/2014/main" id="{541BE6E6-D69D-5D9C-E372-BCC6D2F98F5A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 (bob prompt)</a:t>
            </a:r>
            <a:endParaRPr sz="2400" b="1" dirty="0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0689-D79B-08C4-5C86-559A26B5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62" b="11895"/>
          <a:stretch>
            <a:fillRect/>
          </a:stretch>
        </p:blipFill>
        <p:spPr>
          <a:xfrm>
            <a:off x="7775143" y="420736"/>
            <a:ext cx="3891280" cy="40573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9361CA-C7F5-08E6-64A2-BEB51A8E5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223" y="4634155"/>
            <a:ext cx="4398403" cy="195968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6C8BBA6-151C-C3EA-C7CE-FFA8629FE538}"/>
              </a:ext>
            </a:extLst>
          </p:cNvPr>
          <p:cNvSpPr/>
          <p:nvPr/>
        </p:nvSpPr>
        <p:spPr>
          <a:xfrm>
            <a:off x="4612640" y="1516014"/>
            <a:ext cx="2854959" cy="3563986"/>
          </a:xfrm>
          <a:prstGeom prst="rect">
            <a:avLst/>
          </a:prstGeom>
          <a:noFill/>
          <a:ln w="381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5F9CBF-EC95-D595-AD1C-A0A29F1D675E}"/>
              </a:ext>
            </a:extLst>
          </p:cNvPr>
          <p:cNvSpPr/>
          <p:nvPr/>
        </p:nvSpPr>
        <p:spPr>
          <a:xfrm>
            <a:off x="7775143" y="464968"/>
            <a:ext cx="2854959" cy="1688952"/>
          </a:xfrm>
          <a:prstGeom prst="rect">
            <a:avLst/>
          </a:prstGeom>
          <a:noFill/>
          <a:ln w="381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576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5B70F7-9992-C269-5CC0-9A4DB9D6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12" y="474689"/>
            <a:ext cx="7705857" cy="3594815"/>
          </a:xfrm>
          <a:prstGeom prst="rect">
            <a:avLst/>
          </a:prstGeom>
        </p:spPr>
      </p:pic>
      <p:sp>
        <p:nvSpPr>
          <p:cNvPr id="9" name="Google Shape;278;p18">
            <a:extLst>
              <a:ext uri="{FF2B5EF4-FFF2-40B4-BE49-F238E27FC236}">
                <a16:creationId xmlns:a16="http://schemas.microsoft.com/office/drawing/2014/main" id="{21E3681C-88AC-8FBA-099A-050E2C86028F}"/>
              </a:ext>
            </a:extLst>
          </p:cNvPr>
          <p:cNvSpPr/>
          <p:nvPr/>
        </p:nvSpPr>
        <p:spPr>
          <a:xfrm>
            <a:off x="358344" y="-7121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F8976A-FBA4-AED4-F44F-C07ACE4B2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21" y="4155233"/>
            <a:ext cx="5994638" cy="25976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923D5D-96D7-7412-65F3-264F20F6B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423" y="474688"/>
            <a:ext cx="3749365" cy="580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34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1A029-86E8-6DC0-725C-83AB61B5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83" y="906354"/>
            <a:ext cx="7119854" cy="5067726"/>
          </a:xfrm>
          <a:prstGeom prst="rect">
            <a:avLst/>
          </a:prstGeom>
        </p:spPr>
      </p:pic>
      <p:sp>
        <p:nvSpPr>
          <p:cNvPr id="5" name="Google Shape;278;p18">
            <a:extLst>
              <a:ext uri="{FF2B5EF4-FFF2-40B4-BE49-F238E27FC236}">
                <a16:creationId xmlns:a16="http://schemas.microsoft.com/office/drawing/2014/main" id="{325FCDFB-0B7A-CD27-BFAD-05807E153784}"/>
              </a:ext>
            </a:extLst>
          </p:cNvPr>
          <p:cNvSpPr/>
          <p:nvPr/>
        </p:nvSpPr>
        <p:spPr>
          <a:xfrm>
            <a:off x="409144" y="112960"/>
            <a:ext cx="731245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 (bob prompt/chat)</a:t>
            </a:r>
            <a:endParaRPr sz="2400" b="1" dirty="0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8BEE3-6615-257A-24CF-13ACEF15D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40" y="906354"/>
            <a:ext cx="4405850" cy="52302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43A07B-BB7A-5308-3527-E1D93EFCB42C}"/>
              </a:ext>
            </a:extLst>
          </p:cNvPr>
          <p:cNvSpPr/>
          <p:nvPr/>
        </p:nvSpPr>
        <p:spPr>
          <a:xfrm>
            <a:off x="293682" y="906354"/>
            <a:ext cx="7119854" cy="810686"/>
          </a:xfrm>
          <a:prstGeom prst="rect">
            <a:avLst/>
          </a:prstGeom>
          <a:noFill/>
          <a:ln w="381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D97912-4279-7432-184C-EC7B4E2D60D4}"/>
              </a:ext>
            </a:extLst>
          </p:cNvPr>
          <p:cNvSpPr/>
          <p:nvPr/>
        </p:nvSpPr>
        <p:spPr>
          <a:xfrm>
            <a:off x="7609838" y="906354"/>
            <a:ext cx="2844801" cy="505886"/>
          </a:xfrm>
          <a:prstGeom prst="rect">
            <a:avLst/>
          </a:prstGeom>
          <a:noFill/>
          <a:ln w="381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073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868680" y="14935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252048" y="611017"/>
            <a:ext cx="1162812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Startup Blueprint Generator </a:t>
            </a:r>
            <a:r>
              <a:rPr lang="en-US" sz="1800" dirty="0"/>
              <a:t>stands out by combining </a:t>
            </a:r>
            <a:r>
              <a:rPr lang="en-US" sz="1800" b="1" dirty="0"/>
              <a:t>Agentic AI, RAG, IBM Granite, and structured startup planning</a:t>
            </a:r>
            <a:r>
              <a:rPr lang="en-US" sz="1800" dirty="0"/>
              <a:t> into a single intelligent system.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RAG-Grounded Startup Planning- </a:t>
            </a:r>
            <a:r>
              <a:rPr lang="en-US" sz="1800" dirty="0"/>
              <a:t>Retrieves relevant information from a dedicated startup knowledge base before generating the blueprint, improving contextual relevance.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18-Section Comprehensive Blueprint- </a:t>
            </a:r>
            <a:r>
              <a:rPr lang="en-US" sz="1800" dirty="0"/>
              <a:t>Instead of answering one startup question at a time, the system generates a complete blueprint covering </a:t>
            </a:r>
            <a:r>
              <a:rPr lang="en-US" sz="1800" b="1" dirty="0"/>
              <a:t>business, market, finance, funding, legal, and execution aspects</a:t>
            </a:r>
            <a:r>
              <a:rPr lang="en-US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Context-Aware Personalization- </a:t>
            </a:r>
            <a:r>
              <a:rPr lang="en-US" sz="1800" dirty="0"/>
              <a:t>The blueprint is tailored according to the user's </a:t>
            </a:r>
            <a:r>
              <a:rPr lang="en-US" sz="1800" b="1" dirty="0"/>
              <a:t>industry, target customer, location, budget, and startup stage</a:t>
            </a:r>
            <a:r>
              <a:rPr lang="en-US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Transparent AI Recommendations- </a:t>
            </a:r>
            <a:r>
              <a:rPr lang="en-US" sz="1800" dirty="0"/>
              <a:t>The system clearly distinguishes between:</a:t>
            </a:r>
          </a:p>
          <a:p>
            <a:r>
              <a:rPr lang="en-US" sz="1800" b="1" dirty="0"/>
              <a:t>	[RETRIEVED FACT]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1" dirty="0"/>
              <a:t>[ESTIMATE]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1" dirty="0"/>
              <a:t>[RECOMMENDATION]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1" dirty="0"/>
              <a:t>[ASSUMPTION]</a:t>
            </a:r>
          </a:p>
          <a:p>
            <a:r>
              <a:rPr lang="en-US" sz="1800" dirty="0"/>
              <a:t>This helps users understand the nature of generated information.</a:t>
            </a:r>
          </a:p>
          <a:p>
            <a:r>
              <a:rPr lang="en-US" sz="1800" b="1" dirty="0"/>
              <a:t>6.   Integrated Startup Research- </a:t>
            </a:r>
            <a:r>
              <a:rPr lang="en-US" sz="1800" dirty="0"/>
              <a:t>Combines business models, funding, government schemes, incubators, and legal/compliance information into one workflow.</a:t>
            </a:r>
          </a:p>
          <a:p>
            <a:r>
              <a:rPr lang="en-US" sz="1800" b="1" dirty="0"/>
              <a:t>7.   Action-Oriented Planning- </a:t>
            </a:r>
            <a:r>
              <a:rPr lang="en-US" sz="1800" dirty="0"/>
              <a:t>Converts the startup idea into a practical </a:t>
            </a:r>
            <a:r>
              <a:rPr lang="en-US" sz="1800" b="1" dirty="0"/>
              <a:t>30/60/90-day action plan</a:t>
            </a:r>
            <a:r>
              <a:rPr lang="en-US" sz="1800" dirty="0"/>
              <a:t> rather than providing only general suggestions.</a:t>
            </a:r>
          </a:p>
          <a:p>
            <a:r>
              <a:rPr lang="en-US" sz="1800" b="1" dirty="0"/>
              <a:t>8.   Modular Knowledge Base- </a:t>
            </a:r>
            <a:r>
              <a:rPr lang="en-US" sz="1800" dirty="0"/>
              <a:t>New </a:t>
            </a:r>
            <a:r>
              <a:rPr lang="en-US" dirty="0"/>
              <a:t>.txt</a:t>
            </a:r>
            <a:r>
              <a:rPr lang="en-US" sz="1800" dirty="0"/>
              <a:t> knowledge documents can be added to the knowledge base and indexed by the RAG pipeline.</a:t>
            </a:r>
          </a:p>
          <a:p>
            <a:r>
              <a:rPr lang="en-US" sz="1800" b="1" dirty="0"/>
              <a:t>9.   IBM Granite Powered- </a:t>
            </a:r>
            <a:r>
              <a:rPr lang="en-US" sz="1800" dirty="0"/>
              <a:t>Uses </a:t>
            </a:r>
            <a:r>
              <a:rPr lang="en-US" sz="1800" b="1" dirty="0"/>
              <a:t>IBM Granite through watsonx.ai</a:t>
            </a:r>
            <a:r>
              <a:rPr lang="en-US" sz="1800" dirty="0"/>
              <a:t> for reasoning and generation.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850" dirty="0">
                <a:latin typeface="+mj-lt"/>
                <a:ea typeface="Times New Roman"/>
                <a:cs typeface="Times New Roman"/>
                <a:sym typeface="Times New Roman"/>
                <a:hlinkClick r:id="rId3"/>
              </a:rPr>
              <a:t>https://github.com/Janvi24-ux/StartupGenie.git </a:t>
            </a:r>
            <a:endParaRPr lang="en-US" sz="1850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852964" y="3108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548640" y="674146"/>
            <a:ext cx="10546080" cy="5970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b="1" dirty="0"/>
              <a:t>1. Real-Time Startup Data Integration-</a:t>
            </a:r>
          </a:p>
          <a:p>
            <a:r>
              <a:rPr lang="en-US" sz="1800" dirty="0"/>
              <a:t>The system can be connected with live APIs and trusted web sources to retrieve updated information about </a:t>
            </a:r>
            <a:r>
              <a:rPr lang="en-US" sz="1800" b="1" dirty="0"/>
              <a:t>funding opportunities, government schemes, market trends, competitors, and startup programs</a:t>
            </a:r>
            <a:r>
              <a:rPr lang="en-US" sz="1800" dirty="0"/>
              <a:t>.</a:t>
            </a:r>
          </a:p>
          <a:p>
            <a:r>
              <a:rPr lang="en-US" sz="1800" b="1" dirty="0"/>
              <a:t>2. Multi-Agent Startup Ecosystem-</a:t>
            </a:r>
          </a:p>
          <a:p>
            <a:r>
              <a:rPr lang="en-US" sz="1800" dirty="0"/>
              <a:t>Future versions can introduce specialized agents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Market Research Agent</a:t>
            </a:r>
            <a:r>
              <a:rPr lang="en-US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Competitor Analysis Agent</a:t>
            </a:r>
            <a:r>
              <a:rPr lang="en-US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Funding Agent</a:t>
            </a:r>
            <a:r>
              <a:rPr lang="en-US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Legal &amp; Compliance Agent</a:t>
            </a:r>
            <a:r>
              <a:rPr lang="en-US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Marketing Strategy Agent</a:t>
            </a:r>
            <a:r>
              <a:rPr lang="en-US" sz="1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Financial Planning Agent</a:t>
            </a:r>
            <a:r>
              <a:rPr lang="en-US" sz="1800" dirty="0"/>
              <a:t> </a:t>
            </a:r>
          </a:p>
          <a:p>
            <a:r>
              <a:rPr lang="en-US" sz="1800" dirty="0"/>
              <a:t>These agents can collaborate to produce more specialized startup insights.</a:t>
            </a:r>
          </a:p>
          <a:p>
            <a:r>
              <a:rPr lang="en-US" sz="1800" b="1" dirty="0"/>
              <a:t>3. Investor &amp; Funding Platform Integration</a:t>
            </a:r>
          </a:p>
          <a:p>
            <a:r>
              <a:rPr lang="en-US" sz="1800" dirty="0"/>
              <a:t>Integration with startup funding platforms and investor databases could help users discover </a:t>
            </a:r>
            <a:r>
              <a:rPr lang="en-US" sz="1800" b="1" dirty="0"/>
              <a:t>relevant investors, accelerators, grants, and funding programs</a:t>
            </a:r>
            <a:r>
              <a:rPr lang="en-US" sz="1800" dirty="0"/>
              <a:t> based on their startup profile.</a:t>
            </a:r>
          </a:p>
          <a:p>
            <a:r>
              <a:rPr lang="en-US" sz="1800" b="1" dirty="0"/>
              <a:t>4. Persistent User Profiles &amp; Startup History</a:t>
            </a:r>
          </a:p>
          <a:p>
            <a:r>
              <a:rPr lang="en-US" sz="1800" dirty="0"/>
              <a:t>A database can be added to save previous blueprints, track progress, compare different startup ideas, and monitor completion of the </a:t>
            </a:r>
            <a:r>
              <a:rPr lang="en-US" sz="1800" b="1" dirty="0"/>
              <a:t>30/60/90-day action plan</a:t>
            </a:r>
            <a:r>
              <a:rPr lang="en-US" sz="1800" dirty="0"/>
              <a:t>.</a:t>
            </a:r>
          </a:p>
          <a:p>
            <a:r>
              <a:rPr lang="en-US" sz="1800" b="1" dirty="0"/>
              <a:t>5. Multilingual &amp; Voice Interaction</a:t>
            </a:r>
          </a:p>
          <a:p>
            <a:r>
              <a:rPr lang="en-US" sz="1800" dirty="0"/>
              <a:t>Voice input and multilingual support can make </a:t>
            </a:r>
            <a:r>
              <a:rPr lang="en-US" b="1" dirty="0"/>
              <a:t>Startup Blueprint Generator</a:t>
            </a:r>
            <a:r>
              <a:rPr lang="en-US" sz="1800" dirty="0"/>
              <a:t> accessible to entrepreneurs who prefer interacting in </a:t>
            </a:r>
            <a:r>
              <a:rPr lang="en-US" sz="1800" b="1" dirty="0"/>
              <a:t>Hindi and other regional languages</a:t>
            </a:r>
            <a:r>
              <a:rPr lang="en-US" sz="1800" dirty="0"/>
              <a:t>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3BADBC-6623-0D21-CD7E-B05CE0A81B97}"/>
              </a:ext>
            </a:extLst>
          </p:cNvPr>
          <p:cNvSpPr/>
          <p:nvPr/>
        </p:nvSpPr>
        <p:spPr>
          <a:xfrm>
            <a:off x="2856764" y="2994415"/>
            <a:ext cx="4414683" cy="4498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3A3B9-7283-D67F-7070-AB1A20B97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641" y="1172046"/>
            <a:ext cx="7240595" cy="558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3BF417-BCF9-9052-E7F6-BC67E6D42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079" y="1292055"/>
            <a:ext cx="8325242" cy="513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1639</Words>
  <Application>Microsoft Office PowerPoint</Application>
  <PresentationFormat>Widescreen</PresentationFormat>
  <Paragraphs>183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Janvi Agarwal</cp:lastModifiedBy>
  <cp:revision>3</cp:revision>
  <dcterms:created xsi:type="dcterms:W3CDTF">2025-07-08T05:06:56Z</dcterms:created>
  <dcterms:modified xsi:type="dcterms:W3CDTF">2026-09-10T13:33:20Z</dcterms:modified>
</cp:coreProperties>
</file>